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8"/>
                </a:solidFill>
                <a:latin typeface="Calibri"/>
              </a:rPr>
              <a:t>Package Throughput Range (m³/day)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(m³/day)</c:v>
                </c:pt>
              </c:strCache>
            </c:strRef>
          </c:tx>
          <c:spPr>
            <a:solidFill>
              <a:srgbClr val="2D6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3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Minimum Package</c:v>
                  </c:pt>
                  <c:pt idx="1">
                    <c:v>Maximum Package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</c:v>
                </c:pt>
                <c:pt idx="1">
                  <c:v>1110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3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Estimate</c:v>
                </c:pt>
              </c:strCache>
            </c:strRef>
          </c:tx>
          <c:spPr>
            <a:solidFill>
              <a:srgbClr val="2D6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Technical Validation</c:v>
                  </c:pt>
                  <c:pt idx="1">
                    <c:v>Commercial &amp; Legal</c:v>
                  </c:pt>
                  <c:pt idx="2">
                    <c:v>Field Economics</c:v>
                  </c:pt>
                  <c:pt idx="3">
                    <c:v>Execution Readiness</c:v>
                  </c:pt>
                  <c:pt idx="4">
                    <c:v>Partnership Structure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Extended Range</c:v>
                </c:pt>
              </c:strCache>
            </c:strRef>
          </c:tx>
          <c:spPr>
            <a:solidFill>
              <a:srgbClr val="BFD6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Technical Validation</c:v>
                  </c:pt>
                  <c:pt idx="1">
                    <c:v>Commercial &amp; Legal</c:v>
                  </c:pt>
                  <c:pt idx="2">
                    <c:v>Field Economics</c:v>
                  </c:pt>
                  <c:pt idx="3">
                    <c:v>Execution Readiness</c:v>
                  </c:pt>
                  <c:pt idx="4">
                    <c:v>Partnership Structure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3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8DC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47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5A6478"/>
                    </a:solidFill>
                    <a:latin typeface="Calibri"/>
                  </a:rPr>
                  <a:t>Weeks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PWE1 HOSS™-VWP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A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thermal treatment for hypersaline produced water — evaluated as a potential technology partnership for PDO and Oxy.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28016" cy="128016"/>
          </a:xfrm>
          <a:prstGeom prst="ellipse">
            <a:avLst/>
          </a:prstGeom>
          <a:solidFill>
            <a:srgbClr val="E0A86A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4507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claims unverified — pilot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/ Oxy Evaluation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parts.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591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990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75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6484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Oman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3425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3068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Case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926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9651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What's Unverified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650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" y="6236208"/>
            <a:ext cx="10241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 water is a cost center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steam demand could offset.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and heavy-oil fields generate large volumes of hypersaline brine. Disposal is expensive. Thermal recovery needs continuous steam. Today these run as two separate cost lines.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54864" cy="1371600"/>
          </a:xfrm>
          <a:prstGeom prst="rect">
            <a:avLst/>
          </a:prstGeom>
          <a:solidFill>
            <a:srgbClr val="2D6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cost per m³ 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hypersaline fields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3749040"/>
            <a:ext cx="54864" cy="1371600"/>
          </a:xfrm>
          <a:prstGeom prst="rect">
            <a:avLst/>
          </a:prstGeom>
          <a:solidFill>
            <a:srgbClr val="2D6A8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demand in thermal-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operations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3749040"/>
            <a:ext cx="54864" cy="1371600"/>
          </a:xfrm>
          <a:prstGeom prst="rect">
            <a:avLst/>
          </a:prstGeom>
          <a:solidFill>
            <a:srgbClr val="C77A38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Unlinked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7532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cost centers rarely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infrastructure today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HOSS™-VWP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modular system,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recovered outputs.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indirect-heating system that converts difficult produced water into usable field resources rather than waste.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Demineralized, high-vapour-fraction steam for field use or EOR injection.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337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657600"/>
            <a:ext cx="502920" cy="502920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389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Water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8463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water suitable for reinjection or controlled discharge.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3375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3657600"/>
            <a:ext cx="502920" cy="502920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4389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Solids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48463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dried solids for disposal — or feed-specific recovery assessment.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indirect heating throughout.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21992"/>
            <a:ext cx="420624" cy="420624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Conditioning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9240" y="2148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brine is prepared for thermal treatment.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88136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90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Slurry Handling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9900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management of precipitating salts to limit scaling.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04488"/>
            <a:ext cx="420624" cy="420624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831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 Separation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38313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is extracted and routed for field reuse.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44568"/>
            <a:ext cx="1088136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45736"/>
            <a:ext cx="420624" cy="420624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672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Heating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46725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heat, gas, geothermal, solar thermal, or hybrid input drives the process.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85816"/>
            <a:ext cx="1088136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86984"/>
            <a:ext cx="420624" cy="420624"/>
          </a:xfrm>
          <a:prstGeom prst="ellipse">
            <a:avLst/>
          </a:prstGeom>
          <a:solidFill>
            <a:srgbClr val="2D6A8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86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513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&amp; Solids Recovery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55138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is separated; remaining minerals are dried and concentrated.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capacity, flexible energy input.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33172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1,500–7,000 bbl/day equivalent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2648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can draw from: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292608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29260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Heat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71232" y="2926080"/>
            <a:ext cx="118414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232" y="2926080"/>
            <a:ext cx="11841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919972" y="292608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9972" y="29260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3493008"/>
            <a:ext cx="156819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3493008"/>
            <a:ext cx="15681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Thermal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59268" y="3493008"/>
            <a:ext cx="89611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59268" y="3493008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Oman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clearest fit: heavy-oil fields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disposal and steam demand coexist.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6850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3995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Reduction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disposal cost center into a steam and water source.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36850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7720" y="3995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Fit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45262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recovery aligns with Oman's treatment-over-discharge posture.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36850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3995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Story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45262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Waste-heat and flare-gas capture support efficiency and ESG targets.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Case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 — FIELD-SPECIFIC MODEL REQUIRED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500 m³/day module, modeled conservatively.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4864" cy="1463040"/>
          </a:xfrm>
          <a:prstGeom prst="rect">
            <a:avLst/>
          </a:prstGeom>
          <a:solidFill>
            <a:srgbClr val="2D6A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CAPEX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(module + install)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54864" cy="1463040"/>
          </a:xfrm>
          <a:prstGeom prst="rect">
            <a:avLst/>
          </a:prstGeom>
          <a:solidFill>
            <a:srgbClr val="2D6A8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$440K/yr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waste-heat powered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54864" cy="1463040"/>
          </a:xfrm>
          <a:prstGeom prst="rect">
            <a:avLst/>
          </a:prstGeom>
          <a:solidFill>
            <a:srgbClr val="C77A38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 yrs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payback — highly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improves sharply with higher disposal costs, full steam utilization, or free waste-heat input. This is a placeholder model, not an investment figure.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A86A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What's Unverified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Credible design, undisclosed performance.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field-by-field, no CAPEX concentration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47288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heating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corrosion, simpler operability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105656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78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discharge, regulatory friendly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64024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371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flexible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heat reduces fuel exposure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422392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7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788920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intensity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kWh/m³ figure published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447288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spec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fraction, purity not stated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05656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178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Fouling behavior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operating/maintenance data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764024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8371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MTBF or uptime target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5422392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what could pay off.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7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falls short of claims, eroding ROI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47288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degrades heat transfer over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105656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78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maturity — no performance guarantees seen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64024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371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volatility if not waste-heat powered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422392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788920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disposal-cost avoidance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447288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self-sufficiency for thermal recovery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05656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178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rollout spreads capital risk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764024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8371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ESG-aligned partnership narrative with Oxy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5422392"/>
            <a:ext cx="51206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PWE1 HOSS™-VWP — Feasibility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6868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Qualified proceed to pilot.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3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strategic fit for PDO/Oxy heavy-oil operations — contingent on two conditions before any capital commitment.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 w="12700">
            <a:solidFill>
              <a:srgbClr val="2C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4389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3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pilot on representative field water — energy use, steam quality, water recovery, fouling behavior.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379476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 w="12700">
            <a:solidFill>
              <a:srgbClr val="2C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4389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3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performance guarantees tied to liquidated damages — not currently offered.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tracks, 18–30 weeks to a decision.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86000"/>
          <a:ext cx="10881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core estimate + extended range per track (e.g. Technical Validation: 8–12 weeks)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5212080"/>
            <a:ext cx="2130552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55778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PWE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59436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 + guarantee terms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80360" y="5212080"/>
            <a:ext cx="2130552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44952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044952" y="55778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Pilot Site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44952" y="59436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water-cut, thermal-recovery field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20640" y="5212080"/>
            <a:ext cx="2130552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5232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85232" y="55778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Engineer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85232" y="59436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pilot oversight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60920" y="5212080"/>
            <a:ext cx="2130552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25512" y="55778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Pilot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25512" y="59436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weeks, representative feed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601200" y="5212080"/>
            <a:ext cx="2130552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65792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765792" y="55778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765792" y="59436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to investment committee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FA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8/10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the strategic case. Confidence in the technology remains outstanding until PWE's claims are independently verified in a field pilot.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128016" cy="128016"/>
          </a:xfrm>
          <a:prstGeom prst="ellipse">
            <a:avLst/>
          </a:prstGeom>
          <a:solidFill>
            <a:srgbClr val="E0A86A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4965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investment recommendation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2026-08-17T14:33:04Z</dcterms:created>
  <dcterms:modified xsi:type="dcterms:W3CDTF">2026-08-17T14:33:04Z</dcterms:modified>
</cp:coreProperties>
</file>